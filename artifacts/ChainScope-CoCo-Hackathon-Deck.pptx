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747775"/>
          </p15:clr>
        </p15:guide>
        <p15:guide id="2" pos="38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38DF55-A289-F868-A327-CAC723F89544}"/>
              </a:ext>
            </a:extLst>
          </p:cNvPr>
          <p:cNvSpPr txBox="1"/>
          <p:nvPr/>
        </p:nvSpPr>
        <p:spPr>
          <a:xfrm>
            <a:off x="609600" y="889000"/>
            <a:ext cx="1041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169E6A"/>
                </a:solidFill>
                <a:latin typeface="Aptos" panose="020B0004020202020204" pitchFamily="34" charset="0"/>
              </a:rPr>
              <a:t>CHAINSCOPE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E4605-6B05-6D4C-66AD-6CFDB3DE9F62}"/>
              </a:ext>
            </a:extLst>
          </p:cNvPr>
          <p:cNvSpPr txBox="1"/>
          <p:nvPr/>
        </p:nvSpPr>
        <p:spPr>
          <a:xfrm>
            <a:off x="609600" y="1574800"/>
            <a:ext cx="10033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Supply-chain answers you can trace to the source.</a:t>
            </a:r>
            <a:endParaRPr lang="en-IN" sz="3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92730-F796-D22F-013E-FF480EA5CC1B}"/>
              </a:ext>
            </a:extLst>
          </p:cNvPr>
          <p:cNvSpPr txBox="1"/>
          <p:nvPr/>
        </p:nvSpPr>
        <p:spPr>
          <a:xfrm>
            <a:off x="609600" y="3365500"/>
            <a:ext cx="965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B8C3C9"/>
                </a:solidFill>
                <a:latin typeface="Aptos" panose="020B0004020202020204" pitchFamily="34" charset="0"/>
              </a:rPr>
              <a:t>Governed conversational analytics for Snowflake CoCo CLI Hackathon - Problem Statement 05</a:t>
            </a:r>
            <a:endParaRPr lang="en-IN" sz="17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AE4EA-E6CB-82AB-7BDB-F931E6D153A5}"/>
              </a:ext>
            </a:extLst>
          </p:cNvPr>
          <p:cNvSpPr txBox="1"/>
          <p:nvPr/>
        </p:nvSpPr>
        <p:spPr>
          <a:xfrm>
            <a:off x="609600" y="5397500"/>
            <a:ext cx="965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 b="1">
                <a:solidFill>
                  <a:srgbClr val="EFF4F6"/>
                </a:solidFill>
                <a:latin typeface="Aptos" panose="020B0004020202020204" pitchFamily="34" charset="0"/>
              </a:rPr>
              <a:t>Devam Kakoty  |  Team size: 1  |  Bengaluru, India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43C7A-040B-3742-DF97-4D96DC418AF6}"/>
              </a:ext>
            </a:extLst>
          </p:cNvPr>
          <p:cNvSpPr txBox="1"/>
          <p:nvPr/>
        </p:nvSpPr>
        <p:spPr>
          <a:xfrm>
            <a:off x="609600" y="59055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Synthetic demonstration data  |  Public repository and live replay included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922642-6D55-2428-6412-CA276530EC01}"/>
              </a:ext>
            </a:extLst>
          </p:cNvPr>
          <p:cNvSpPr txBox="1"/>
          <p:nvPr/>
        </p:nvSpPr>
        <p:spPr>
          <a:xfrm>
            <a:off x="482600" y="279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100" b="1">
                <a:solidFill>
                  <a:srgbClr val="169E6A"/>
                </a:solidFill>
                <a:latin typeface="Aptos" panose="020B0004020202020204" pitchFamily="34" charset="0"/>
              </a:rPr>
              <a:t>01  PROBLEM BRIEF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D54E3-0703-E4B0-5735-25798D7CF42E}"/>
              </a:ext>
            </a:extLst>
          </p:cNvPr>
          <p:cNvSpPr txBox="1"/>
          <p:nvPr/>
        </p:nvSpPr>
        <p:spPr>
          <a:xfrm>
            <a:off x="482600" y="609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A late shipment is not yet an explanation.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C6250-B28F-DFE0-8436-F91EED202E5F}"/>
              </a:ext>
            </a:extLst>
          </p:cNvPr>
          <p:cNvSpPr txBox="1"/>
          <p:nvPr/>
        </p:nvSpPr>
        <p:spPr>
          <a:xfrm>
            <a:off x="482600" y="13716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B8C3C9"/>
                </a:solidFill>
                <a:latin typeface="Aptos" panose="020B0004020202020204" pitchFamily="34" charset="0"/>
              </a:rPr>
              <a:t>Operations teams need the affected commitment, approved metric and evidence in one governed answer.</a:t>
            </a:r>
            <a:endParaRPr lang="en-IN" sz="12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4E041-D2B8-EB7F-DD8A-8D41E1119EA1}"/>
              </a:ext>
            </a:extLst>
          </p:cNvPr>
          <p:cNvSpPr/>
          <p:nvPr/>
        </p:nvSpPr>
        <p:spPr>
          <a:xfrm>
            <a:off x="482600" y="1841500"/>
            <a:ext cx="939800" cy="38100"/>
          </a:xfrm>
          <a:prstGeom prst="rect">
            <a:avLst/>
          </a:prstGeom>
          <a:solidFill>
            <a:srgbClr val="169E6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585F88-3C4E-90CA-6339-3D3A571B3AE0}"/>
              </a:ext>
            </a:extLst>
          </p:cNvPr>
          <p:cNvSpPr/>
          <p:nvPr/>
        </p:nvSpPr>
        <p:spPr>
          <a:xfrm>
            <a:off x="482600" y="2286000"/>
            <a:ext cx="3429000" cy="31750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A9653-7F33-5236-F5BE-9EB462838F82}"/>
              </a:ext>
            </a:extLst>
          </p:cNvPr>
          <p:cNvSpPr txBox="1"/>
          <p:nvPr/>
        </p:nvSpPr>
        <p:spPr>
          <a:xfrm>
            <a:off x="673100" y="2463800"/>
            <a:ext cx="304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Pain today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CEA86-E3C6-4C74-7F11-C3D832445FF9}"/>
              </a:ext>
            </a:extLst>
          </p:cNvPr>
          <p:cNvSpPr txBox="1"/>
          <p:nvPr/>
        </p:nvSpPr>
        <p:spPr>
          <a:xfrm>
            <a:off x="673100" y="2921000"/>
            <a:ext cx="3048000" cy="8463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Supplier, inventory and customer-risk signals live in separate views.
Free-form assistants can mix definitions, invent joins or disclose commercial values.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55A696-2151-F1ED-3788-FD2FBF80DA5A}"/>
              </a:ext>
            </a:extLst>
          </p:cNvPr>
          <p:cNvSpPr/>
          <p:nvPr/>
        </p:nvSpPr>
        <p:spPr>
          <a:xfrm>
            <a:off x="4140200" y="2286000"/>
            <a:ext cx="3429000" cy="31750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A1838-3AA4-0DB2-14E7-2FE54FC1D65A}"/>
              </a:ext>
            </a:extLst>
          </p:cNvPr>
          <p:cNvSpPr txBox="1"/>
          <p:nvPr/>
        </p:nvSpPr>
        <p:spPr>
          <a:xfrm>
            <a:off x="4330700" y="2463800"/>
            <a:ext cx="304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Target users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103607-C995-8B4A-B7E8-1B991CE4FA5E}"/>
              </a:ext>
            </a:extLst>
          </p:cNvPr>
          <p:cNvSpPr txBox="1"/>
          <p:nvPr/>
        </p:nvSpPr>
        <p:spPr>
          <a:xfrm>
            <a:off x="4330700" y="2921000"/>
            <a:ext cx="3048000" cy="8463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Supply planners
Procurement teams
Plant operations
Commercial analysts
Governance and audit teams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FA14E0-B785-F52B-A519-DD4A3C0CA0AD}"/>
              </a:ext>
            </a:extLst>
          </p:cNvPr>
          <p:cNvSpPr/>
          <p:nvPr/>
        </p:nvSpPr>
        <p:spPr>
          <a:xfrm>
            <a:off x="7797800" y="2286000"/>
            <a:ext cx="3429000" cy="31750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E533A3-40C2-D3F8-42AA-9E55FF214D8E}"/>
              </a:ext>
            </a:extLst>
          </p:cNvPr>
          <p:cNvSpPr txBox="1"/>
          <p:nvPr/>
        </p:nvSpPr>
        <p:spPr>
          <a:xfrm>
            <a:off x="7988300" y="2463800"/>
            <a:ext cx="304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Result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152823-2F66-442D-AE01-10364AB80677}"/>
              </a:ext>
            </a:extLst>
          </p:cNvPr>
          <p:cNvSpPr txBox="1"/>
          <p:nvPr/>
        </p:nvSpPr>
        <p:spPr>
          <a:xfrm>
            <a:off x="7988300" y="2921000"/>
            <a:ext cx="3048000" cy="8463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Trace an inbound problem to specific open demand.
Return deterministic metrics, approved SQL and exact source records - or refuse the question.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EE4AEC-3464-CB77-04DF-1CC510502CCB}"/>
              </a:ext>
            </a:extLst>
          </p:cNvPr>
          <p:cNvSpPr txBox="1"/>
          <p:nvPr/>
        </p:nvSpPr>
        <p:spPr>
          <a:xfrm>
            <a:off x="482600" y="279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100" b="1">
                <a:solidFill>
                  <a:srgbClr val="169E6A"/>
                </a:solidFill>
                <a:latin typeface="Aptos" panose="020B0004020202020204" pitchFamily="34" charset="0"/>
              </a:rPr>
              <a:t>02  WORKING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83ED3-E6F6-5FC2-FD43-F26A2CA523DF}"/>
              </a:ext>
            </a:extLst>
          </p:cNvPr>
          <p:cNvSpPr txBox="1"/>
          <p:nvPr/>
        </p:nvSpPr>
        <p:spPr>
          <a:xfrm>
            <a:off x="482600" y="609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ptos" panose="020B0004020202020204" pitchFamily="34" charset="0"/>
              </a:rPr>
              <a:t>Ask -&gt; govern -&gt; calculate -&gt; cite.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9E329-3ACC-6B1C-B622-E517C615B913}"/>
              </a:ext>
            </a:extLst>
          </p:cNvPr>
          <p:cNvSpPr txBox="1"/>
          <p:nvPr/>
        </p:nvSpPr>
        <p:spPr>
          <a:xfrm>
            <a:off x="482600" y="13716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B8C3C9"/>
                </a:solidFill>
                <a:latin typeface="Aptos" panose="020B0004020202020204" pitchFamily="34" charset="0"/>
              </a:rPr>
              <a:t>Seven business questions are mapped to explicit metric contracts and source evidence.</a:t>
            </a:r>
            <a:endParaRPr lang="en-IN" sz="12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1B3CD-7BDD-79FB-44E1-92C48FFEBA46}"/>
              </a:ext>
            </a:extLst>
          </p:cNvPr>
          <p:cNvSpPr/>
          <p:nvPr/>
        </p:nvSpPr>
        <p:spPr>
          <a:xfrm>
            <a:off x="482600" y="1841500"/>
            <a:ext cx="939800" cy="38100"/>
          </a:xfrm>
          <a:prstGeom prst="rect">
            <a:avLst/>
          </a:prstGeom>
          <a:solidFill>
            <a:srgbClr val="169E6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AD8C55-BAB5-B5D8-029F-F1436D75A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460" y="2910417"/>
            <a:ext cx="3688080" cy="256116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1AC28C-4A1D-7EDE-3591-AD325F98D99C}"/>
              </a:ext>
            </a:extLst>
          </p:cNvPr>
          <p:cNvSpPr/>
          <p:nvPr/>
        </p:nvSpPr>
        <p:spPr>
          <a:xfrm>
            <a:off x="7874000" y="2133600"/>
            <a:ext cx="3429000" cy="40640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B1BC9-8448-E51B-BEA7-D9812170CECB}"/>
              </a:ext>
            </a:extLst>
          </p:cNvPr>
          <p:cNvSpPr txBox="1"/>
          <p:nvPr/>
        </p:nvSpPr>
        <p:spPr>
          <a:xfrm>
            <a:off x="8064500" y="2311400"/>
            <a:ext cx="304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Live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CBD61-523E-0A09-4136-E0C810C4AE24}"/>
              </a:ext>
            </a:extLst>
          </p:cNvPr>
          <p:cNvSpPr txBox="1"/>
          <p:nvPr/>
        </p:nvSpPr>
        <p:spPr>
          <a:xfrm>
            <a:off x="8064500" y="2768600"/>
            <a:ext cx="3048000" cy="169277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1. User selects an approved question
2. Role and field policy are checked before execution
3. Shared SQL metric runs at a defined grain
4. Result returns source IDs and records
5. Decision is written to the session audit trail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07A7B9-526C-6DBE-D9BC-46346ECEBA48}"/>
              </a:ext>
            </a:extLst>
          </p:cNvPr>
          <p:cNvSpPr txBox="1"/>
          <p:nvPr/>
        </p:nvSpPr>
        <p:spPr>
          <a:xfrm>
            <a:off x="482600" y="279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100" b="1">
                <a:solidFill>
                  <a:srgbClr val="169E6A"/>
                </a:solidFill>
                <a:latin typeface="Aptos" panose="020B0004020202020204" pitchFamily="34" charset="0"/>
              </a:rPr>
              <a:t>03 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D2E1C-506F-E597-C22D-B975812A7729}"/>
              </a:ext>
            </a:extLst>
          </p:cNvPr>
          <p:cNvSpPr txBox="1"/>
          <p:nvPr/>
        </p:nvSpPr>
        <p:spPr>
          <a:xfrm>
            <a:off x="482600" y="609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One ontology, shared metric contracts.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A80BD-E8A5-DF7A-73A5-8741944CF3A4}"/>
              </a:ext>
            </a:extLst>
          </p:cNvPr>
          <p:cNvSpPr txBox="1"/>
          <p:nvPr/>
        </p:nvSpPr>
        <p:spPr>
          <a:xfrm>
            <a:off x="482600" y="13716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B8C3C9"/>
                </a:solidFill>
                <a:latin typeface="Aptos" panose="020B0004020202020204" pitchFamily="34" charset="0"/>
              </a:rPr>
              <a:t>The local app proves behavior; Snowflake assets define the account deployment path.</a:t>
            </a:r>
            <a:endParaRPr lang="en-IN" sz="12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DC331A-44E9-5D26-7986-6E3433EAE5B6}"/>
              </a:ext>
            </a:extLst>
          </p:cNvPr>
          <p:cNvSpPr/>
          <p:nvPr/>
        </p:nvSpPr>
        <p:spPr>
          <a:xfrm>
            <a:off x="482600" y="1841500"/>
            <a:ext cx="939800" cy="38100"/>
          </a:xfrm>
          <a:prstGeom prst="rect">
            <a:avLst/>
          </a:prstGeom>
          <a:solidFill>
            <a:srgbClr val="169E6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71626B-A819-B77B-105F-7930A10D8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985" y="2917178"/>
            <a:ext cx="3070530" cy="248414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9761CC-B1EB-A4B1-9440-4CC577A51AAD}"/>
              </a:ext>
            </a:extLst>
          </p:cNvPr>
          <p:cNvSpPr/>
          <p:nvPr/>
        </p:nvSpPr>
        <p:spPr>
          <a:xfrm>
            <a:off x="7429500" y="2095500"/>
            <a:ext cx="3873500" cy="11684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6B8C8-2003-6158-15FC-40B90CEAA89B}"/>
              </a:ext>
            </a:extLst>
          </p:cNvPr>
          <p:cNvSpPr txBox="1"/>
          <p:nvPr/>
        </p:nvSpPr>
        <p:spPr>
          <a:xfrm>
            <a:off x="7620000" y="2273300"/>
            <a:ext cx="3492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Data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5331B-B1E5-9C94-6ADF-7F75A8153411}"/>
              </a:ext>
            </a:extLst>
          </p:cNvPr>
          <p:cNvSpPr txBox="1"/>
          <p:nvPr/>
        </p:nvSpPr>
        <p:spPr>
          <a:xfrm>
            <a:off x="7620000" y="2730500"/>
            <a:ext cx="3492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Suppliers -&gt; parts -&gt; plants -&gt; shipments -&gt; order lines -&gt; customers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EF78FE-5277-273F-713B-90FFC917DAFD}"/>
              </a:ext>
            </a:extLst>
          </p:cNvPr>
          <p:cNvSpPr/>
          <p:nvPr/>
        </p:nvSpPr>
        <p:spPr>
          <a:xfrm>
            <a:off x="7429500" y="3454400"/>
            <a:ext cx="3873500" cy="11684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9CA161-7983-B97B-1649-A2A18468487C}"/>
              </a:ext>
            </a:extLst>
          </p:cNvPr>
          <p:cNvSpPr txBox="1"/>
          <p:nvPr/>
        </p:nvSpPr>
        <p:spPr>
          <a:xfrm>
            <a:off x="7620000" y="3632200"/>
            <a:ext cx="3492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Governance layer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D6198-F680-CCEE-E6F2-BE07683B19E9}"/>
              </a:ext>
            </a:extLst>
          </p:cNvPr>
          <p:cNvSpPr txBox="1"/>
          <p:nvPr/>
        </p:nvSpPr>
        <p:spPr>
          <a:xfrm>
            <a:off x="7620000" y="4089400"/>
            <a:ext cx="3492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100">
                <a:solidFill>
                  <a:srgbClr val="B8C3C9"/>
                </a:solidFill>
                <a:latin typeface="Aptos" panose="020B0004020202020204" pitchFamily="34" charset="0"/>
              </a:rPr>
              <a:t>Question allowlist, role checks, redaction, source citations, audit chain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250233-A5F3-F4A3-8C2E-B7F49B650C67}"/>
              </a:ext>
            </a:extLst>
          </p:cNvPr>
          <p:cNvSpPr/>
          <p:nvPr/>
        </p:nvSpPr>
        <p:spPr>
          <a:xfrm>
            <a:off x="7429500" y="4813300"/>
            <a:ext cx="3873500" cy="14224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9DD8E1-378F-F09D-7B05-FCB6F48F6246}"/>
              </a:ext>
            </a:extLst>
          </p:cNvPr>
          <p:cNvSpPr txBox="1"/>
          <p:nvPr/>
        </p:nvSpPr>
        <p:spPr>
          <a:xfrm>
            <a:off x="7620000" y="4991100"/>
            <a:ext cx="3492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Snowflake path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DE1297-E8B2-7D17-E859-74751AA7B832}"/>
              </a:ext>
            </a:extLst>
          </p:cNvPr>
          <p:cNvSpPr txBox="1"/>
          <p:nvPr/>
        </p:nvSpPr>
        <p:spPr>
          <a:xfrm>
            <a:off x="7620000" y="5448300"/>
            <a:ext cx="3492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Load SQL, shared views, native Semantic Views, object grants, Cortex Analyst request and CoCo review prompts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F43E85-634C-B457-91DA-AD9F0596CC1D}"/>
              </a:ext>
            </a:extLst>
          </p:cNvPr>
          <p:cNvSpPr txBox="1"/>
          <p:nvPr/>
        </p:nvSpPr>
        <p:spPr>
          <a:xfrm>
            <a:off x="482600" y="279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100" b="1">
                <a:solidFill>
                  <a:srgbClr val="169E6A"/>
                </a:solidFill>
                <a:latin typeface="Aptos" panose="020B0004020202020204" pitchFamily="34" charset="0"/>
              </a:rPr>
              <a:t>04  GOVERNANCE BY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F5E2B-4235-B079-C991-9EA834FB62EF}"/>
              </a:ext>
            </a:extLst>
          </p:cNvPr>
          <p:cNvSpPr txBox="1"/>
          <p:nvPr/>
        </p:nvSpPr>
        <p:spPr>
          <a:xfrm>
            <a:off x="482600" y="609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The right answer for the right role.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E443B-D309-2139-9053-714DDA35CD28}"/>
              </a:ext>
            </a:extLst>
          </p:cNvPr>
          <p:cNvSpPr txBox="1"/>
          <p:nvPr/>
        </p:nvSpPr>
        <p:spPr>
          <a:xfrm>
            <a:off x="482600" y="13716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B8C3C9"/>
                </a:solidFill>
                <a:latin typeface="Aptos" panose="020B0004020202020204" pitchFamily="34" charset="0"/>
              </a:rPr>
              <a:t>Commercial exposure is calculated from at-risk lines and denied before query for operations users.</a:t>
            </a:r>
            <a:endParaRPr lang="en-IN" sz="12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3052CD-3B0B-BD92-65D1-50655A234D38}"/>
              </a:ext>
            </a:extLst>
          </p:cNvPr>
          <p:cNvSpPr/>
          <p:nvPr/>
        </p:nvSpPr>
        <p:spPr>
          <a:xfrm>
            <a:off x="482600" y="1841500"/>
            <a:ext cx="939800" cy="38100"/>
          </a:xfrm>
          <a:prstGeom prst="rect">
            <a:avLst/>
          </a:prstGeom>
          <a:solidFill>
            <a:srgbClr val="169E6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3B37E2-9FFE-5C4D-AE28-58887BE31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2942167"/>
            <a:ext cx="3048000" cy="21166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80792-77EA-78F5-1DCF-9FB2051C5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06" y="3382935"/>
            <a:ext cx="1778588" cy="12351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7E00D3-360A-A7CC-E227-A1AB5EF22B97}"/>
              </a:ext>
            </a:extLst>
          </p:cNvPr>
          <p:cNvSpPr txBox="1"/>
          <p:nvPr/>
        </p:nvSpPr>
        <p:spPr>
          <a:xfrm>
            <a:off x="482600" y="6096000"/>
            <a:ext cx="1079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EFF4F6"/>
                </a:solidFill>
                <a:latin typeface="Aptos" panose="020B0004020202020204" pitchFamily="34" charset="0"/>
              </a:rPr>
              <a:t>Operations: denied  |  Commercial: USD 67,050 gross open-order exposure  |  Unsupported predictions: refused</a:t>
            </a:r>
            <a:endParaRPr lang="en-IN" sz="1300" b="1">
              <a:solidFill>
                <a:srgbClr val="EFF4F6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71A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DFDBC-BEB9-B20C-84BA-DD80E9B48382}"/>
              </a:ext>
            </a:extLst>
          </p:cNvPr>
          <p:cNvSpPr txBox="1"/>
          <p:nvPr/>
        </p:nvSpPr>
        <p:spPr>
          <a:xfrm>
            <a:off x="482600" y="2794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100" b="1">
                <a:solidFill>
                  <a:srgbClr val="169E6A"/>
                </a:solidFill>
                <a:latin typeface="Aptos" panose="020B0004020202020204" pitchFamily="34" charset="0"/>
              </a:rPr>
              <a:t>05  IMPACT &amp;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D13AE-B1BD-A2FE-025B-4D626F730FC3}"/>
              </a:ext>
            </a:extLst>
          </p:cNvPr>
          <p:cNvSpPr txBox="1"/>
          <p:nvPr/>
        </p:nvSpPr>
        <p:spPr>
          <a:xfrm>
            <a:off x="482600" y="6096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Built to be inspected, extended and deployed.</a:t>
            </a:r>
            <a:endParaRPr lang="en-IN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188B1-10B1-A378-D182-36CE02D2D7F3}"/>
              </a:ext>
            </a:extLst>
          </p:cNvPr>
          <p:cNvSpPr txBox="1"/>
          <p:nvPr/>
        </p:nvSpPr>
        <p:spPr>
          <a:xfrm>
            <a:off x="482600" y="13716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B8C3C9"/>
                </a:solidFill>
                <a:latin typeface="Aptos" panose="020B0004020202020204" pitchFamily="34" charset="0"/>
              </a:rPr>
              <a:t>Every figure below is from the reproducible synthetic snapshot - not a claimed client outcome.</a:t>
            </a:r>
            <a:endParaRPr lang="en-IN" sz="12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B5C87-A867-BCB0-E022-74C498323671}"/>
              </a:ext>
            </a:extLst>
          </p:cNvPr>
          <p:cNvSpPr/>
          <p:nvPr/>
        </p:nvSpPr>
        <p:spPr>
          <a:xfrm>
            <a:off x="482600" y="1841500"/>
            <a:ext cx="939800" cy="38100"/>
          </a:xfrm>
          <a:prstGeom prst="rect">
            <a:avLst/>
          </a:prstGeom>
          <a:solidFill>
            <a:srgbClr val="169E6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18E922-858E-DA1D-847D-9957860E0C75}"/>
              </a:ext>
            </a:extLst>
          </p:cNvPr>
          <p:cNvSpPr/>
          <p:nvPr/>
        </p:nvSpPr>
        <p:spPr>
          <a:xfrm>
            <a:off x="482600" y="2159000"/>
            <a:ext cx="2540000" cy="14605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AB6BF-B7CB-AD65-442C-4D357F0CFDAE}"/>
              </a:ext>
            </a:extLst>
          </p:cNvPr>
          <p:cNvSpPr txBox="1"/>
          <p:nvPr/>
        </p:nvSpPr>
        <p:spPr>
          <a:xfrm>
            <a:off x="673100" y="2336800"/>
            <a:ext cx="215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56 tests passed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36EF9-5368-88C9-53E8-A95B3389FB77}"/>
              </a:ext>
            </a:extLst>
          </p:cNvPr>
          <p:cNvSpPr txBox="1"/>
          <p:nvPr/>
        </p:nvSpPr>
        <p:spPr>
          <a:xfrm>
            <a:off x="673100" y="27940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Metrics, integrity, API, security and static replay.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F54501-7F19-92E5-F096-C2BB88381228}"/>
              </a:ext>
            </a:extLst>
          </p:cNvPr>
          <p:cNvSpPr/>
          <p:nvPr/>
        </p:nvSpPr>
        <p:spPr>
          <a:xfrm>
            <a:off x="3238500" y="2159000"/>
            <a:ext cx="2540000" cy="14605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5345C-D321-FE4C-E149-F5CB8B6BD792}"/>
              </a:ext>
            </a:extLst>
          </p:cNvPr>
          <p:cNvSpPr txBox="1"/>
          <p:nvPr/>
        </p:nvSpPr>
        <p:spPr>
          <a:xfrm>
            <a:off x="3429000" y="2336800"/>
            <a:ext cx="215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58 browser checks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AC1B77-BFF3-9224-25C1-E7BAC72E1964}"/>
              </a:ext>
            </a:extLst>
          </p:cNvPr>
          <p:cNvSpPr txBox="1"/>
          <p:nvPr/>
        </p:nvSpPr>
        <p:spPr>
          <a:xfrm>
            <a:off x="3429000" y="27940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29 local + 29 static; desktop and mobile.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7453E2-6B3A-1440-BB0E-CBFF277B148D}"/>
              </a:ext>
            </a:extLst>
          </p:cNvPr>
          <p:cNvSpPr/>
          <p:nvPr/>
        </p:nvSpPr>
        <p:spPr>
          <a:xfrm>
            <a:off x="5994400" y="2159000"/>
            <a:ext cx="2540000" cy="14605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AF8AE-9206-B4A2-76B5-03AE551CAC6C}"/>
              </a:ext>
            </a:extLst>
          </p:cNvPr>
          <p:cNvSpPr txBox="1"/>
          <p:nvPr/>
        </p:nvSpPr>
        <p:spPr>
          <a:xfrm>
            <a:off x="6184900" y="2336800"/>
            <a:ext cx="215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7 governed metrics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400B4-1A54-A416-4FF2-A8C9F0910AFD}"/>
              </a:ext>
            </a:extLst>
          </p:cNvPr>
          <p:cNvSpPr txBox="1"/>
          <p:nvPr/>
        </p:nvSpPr>
        <p:spPr>
          <a:xfrm>
            <a:off x="6184900" y="27940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Late supply, risk, inventory, fill, sourcing and exposure.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DBAA4F-2EE8-4F72-3A94-55886501A025}"/>
              </a:ext>
            </a:extLst>
          </p:cNvPr>
          <p:cNvSpPr/>
          <p:nvPr/>
        </p:nvSpPr>
        <p:spPr>
          <a:xfrm>
            <a:off x="8750300" y="2159000"/>
            <a:ext cx="2540000" cy="14605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C7F3A4-60D2-95D2-7680-01EBD48946AE}"/>
              </a:ext>
            </a:extLst>
          </p:cNvPr>
          <p:cNvSpPr txBox="1"/>
          <p:nvPr/>
        </p:nvSpPr>
        <p:spPr>
          <a:xfrm>
            <a:off x="8940800" y="2336800"/>
            <a:ext cx="215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163 records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11062F-0580-59D0-1000-B9557AFFC262}"/>
              </a:ext>
            </a:extLst>
          </p:cNvPr>
          <p:cNvSpPr txBox="1"/>
          <p:nvPr/>
        </p:nvSpPr>
        <p:spPr>
          <a:xfrm>
            <a:off x="8940800" y="2794000"/>
            <a:ext cx="2159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11 tables, 32 shipments, 14 orders.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87FFD0-2E77-1C02-FBF5-72F9E4FE7604}"/>
              </a:ext>
            </a:extLst>
          </p:cNvPr>
          <p:cNvSpPr/>
          <p:nvPr/>
        </p:nvSpPr>
        <p:spPr>
          <a:xfrm>
            <a:off x="482600" y="3937000"/>
            <a:ext cx="5207000" cy="19685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08D68C-8B8D-8F7D-7831-C095992EA288}"/>
              </a:ext>
            </a:extLst>
          </p:cNvPr>
          <p:cNvSpPr txBox="1"/>
          <p:nvPr/>
        </p:nvSpPr>
        <p:spPr>
          <a:xfrm>
            <a:off x="673100" y="4114800"/>
            <a:ext cx="4826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Measured demo outputs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D2CD8C-C93F-A2BD-24CF-926C127625B1}"/>
              </a:ext>
            </a:extLst>
          </p:cNvPr>
          <p:cNvSpPr txBox="1"/>
          <p:nvPr/>
        </p:nvSpPr>
        <p:spPr>
          <a:xfrm>
            <a:off x="673100" y="4572000"/>
            <a:ext cx="4826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5 overdue inbound shipments
4 at-risk customer orders
55.2% supplier on-time delivery
41.6% unit fill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F6620F-91FF-32DC-454D-ED75CE66AD8F}"/>
              </a:ext>
            </a:extLst>
          </p:cNvPr>
          <p:cNvSpPr/>
          <p:nvPr/>
        </p:nvSpPr>
        <p:spPr>
          <a:xfrm>
            <a:off x="5994400" y="3937000"/>
            <a:ext cx="5295900" cy="1968500"/>
          </a:xfrm>
          <a:prstGeom prst="roundRect">
            <a:avLst/>
          </a:prstGeom>
          <a:solidFill>
            <a:srgbClr val="23272A"/>
          </a:solidFill>
          <a:ln>
            <a:solidFill>
              <a:srgbClr val="3B41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47F3F-A538-502F-F3CB-DE2DA06DC1D2}"/>
              </a:ext>
            </a:extLst>
          </p:cNvPr>
          <p:cNvSpPr txBox="1"/>
          <p:nvPr/>
        </p:nvSpPr>
        <p:spPr>
          <a:xfrm>
            <a:off x="6184900" y="4114800"/>
            <a:ext cx="49149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Aptos" panose="020B0004020202020204" pitchFamily="34" charset="0"/>
              </a:rPr>
              <a:t>Reusable path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1E105-1982-2A6D-74AB-46002E466E0E}"/>
              </a:ext>
            </a:extLst>
          </p:cNvPr>
          <p:cNvSpPr txBox="1"/>
          <p:nvPr/>
        </p:nvSpPr>
        <p:spPr>
          <a:xfrm>
            <a:off x="6184900" y="4572000"/>
            <a:ext cx="49149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B8C3C9"/>
                </a:solidFill>
                <a:latin typeface="Aptos" panose="020B0004020202020204" pitchFamily="34" charset="0"/>
              </a:rPr>
              <a:t>Static public replay + local app + CLI
Snowflake Semantic Views and least-privilege grants
Deterministic synthetic-data generator
GitHub-ready source and documentation</a:t>
            </a:r>
            <a:endParaRPr lang="en-IN" sz="1100">
              <a:solidFill>
                <a:srgbClr val="B8C3C9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86DA91-1943-061B-D5DE-57AD6A2BD8E1}"/>
              </a:ext>
            </a:extLst>
          </p:cNvPr>
          <p:cNvSpPr txBox="1"/>
          <p:nvPr/>
        </p:nvSpPr>
        <p:spPr>
          <a:xfrm>
            <a:off x="482600" y="62865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>
                <a:solidFill>
                  <a:srgbClr val="B8C3C9"/>
                </a:solidFill>
                <a:latin typeface="Aptos" panose="020B0004020202020204" pitchFamily="34" charset="0"/>
              </a:rPr>
              <a:t>Repository: github.com/devamkakoty/chainscope-snowflake-coco  |  Demo: devamkakoty.github.io/chainscope-snowflake-coco/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Custom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Devam Kakoty</cp:lastModifiedBy>
  <cp:revision>1</cp:revision>
  <dcterms:modified xsi:type="dcterms:W3CDTF">2026-10-04T17:11:55Z</dcterms:modified>
</cp:coreProperties>
</file>